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032079323417901E-2"/>
          <c:y val="1.4941176470588236E-2"/>
          <c:w val="0.9129926120346068"/>
          <c:h val="0.671294117647058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甘藍(筆)</c:v>
                </c:pt>
              </c:strCache>
            </c:strRef>
          </c:tx>
          <c:spPr>
            <a:solidFill>
              <a:srgbClr val="2F52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752A"/>
                    </a:solidFill>
                    <a:latin typeface="Arial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交易行情</c:v>
                </c:pt>
                <c:pt idx="1">
                  <c:v>農情調查</c:v>
                </c:pt>
                <c:pt idx="2">
                  <c:v>產銷履歷</c:v>
                </c:pt>
                <c:pt idx="3">
                  <c:v>生產成本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52867</c:v>
                </c:pt>
                <c:pt idx="1">
                  <c:v>9627</c:v>
                </c:pt>
                <c:pt idx="2">
                  <c:v>21236</c:v>
                </c:pt>
                <c:pt idx="3">
                  <c:v>1450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A9-4506-92F0-8C77880A94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8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本系統以甘藍（高麗菜）與文心蘭為標的作物，串接政府開放資料，運用 AI 模型進行價格預測與產銷決策支援。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五大痛點來自實際產業調查與新聞報導。2018 年高麗菜崩盤是農委會啟動大數據預警的關鍵事件。</a:t>
            </a:r>
          </a:p>
          <a:p>
            <a:r>
              <a:t>利害關係人（Stakeholders）指系統產出資訊的潛在使用對象，非直接「受益者」。</a:t>
            </a:r>
          </a:p>
          <a:p>
            <a:r>
              <a:t>耕鋤：農業用語，指將未收穫作物犁入土中銷毀，以減少市場供給。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專有名詞說明：</a:t>
            </a:r>
          </a:p>
          <a:p>
            <a:r>
              <a:t>- API = Application Programming Interface，應用程式介面，此處指政府開放資料的線上查詢服務</a:t>
            </a:r>
          </a:p>
          <a:p>
            <a:r>
              <a:t>- Prophet = Meta（Facebook）開發的時間序列預測模型，適合具有趨勢與季節性的資料</a:t>
            </a:r>
          </a:p>
          <a:p>
            <a:r>
              <a:t>- XGBoost = eXtreme Gradient Boosting，極限梯度提升，高效能機器學習模型</a:t>
            </a:r>
          </a:p>
          <a:p>
            <a:r>
              <a:t>- LightGBM = Light Gradient Boosting Machine，微軟開發的輕量梯度提升框架</a:t>
            </a:r>
          </a:p>
          <a:p>
            <a:r>
              <a:t>- Ensemble = 集成學習，將多個模型的預測結果加權融合，取長補短</a:t>
            </a:r>
          </a:p>
          <a:p>
            <a:r>
              <a:t>- SHAP = SHapley Additive exPlanations，基於博弈論 Shapley 值的模型可解釋性方法</a:t>
            </a:r>
          </a:p>
          <a:p>
            <a:r>
              <a:t>- Walk-Forward = 向前滾動驗證，每次只用過去資料訓練、預測未來一段時間，逐步前推</a:t>
            </a:r>
          </a:p>
          <a:p>
            <a:r>
              <a:t>- MAPE = Mean Absolute Percentage Error，平均絕對百分比誤差，例如 MAPE=5% 代表預測平均只差 5%</a:t>
            </a:r>
          </a:p>
          <a:p>
            <a:r>
              <a:t>- Recall = 風險捕捉率，「實際跌破成本的情況中，模型成功預警了幾次」</a:t>
            </a:r>
          </a:p>
          <a:p>
            <a:r>
              <a:t>- Precision = 預警準確率，「模型發出的預警中，有幾次真的跌破成本」</a:t>
            </a:r>
          </a:p>
          <a:p>
            <a:r>
              <a:t>- F1 = Precision 與 Recall 的調和平均數</a:t>
            </a:r>
          </a:p>
          <a:p>
            <a:endParaRPr/>
          </a:p>
          <a:p>
            <a:r>
              <a:t>目標四的「MAPE &lt; 15%」代表模型預測價格的平均誤差需在 15% 以內。</a:t>
            </a:r>
          </a:p>
          <a:p>
            <a:r>
              <a:t>甘藍分類指標：XGBoost Accuracy 99.84%、Precision 96.77%、Recall 96.77%、F1 96.77%、AUC 99.93%，表現優異。文心蘭因測試期間價格未跌破成本線（無正例），分類指標為 N/A。</a:t>
            </a:r>
          </a:p>
          <a:p>
            <a:endParaRPr/>
          </a:p>
          <a:p>
            <a:r>
              <a:t>補充說明（Slide 3 各目標細節）：</a:t>
            </a:r>
          </a:p>
          <a:p>
            <a:r>
              <a:t>目標一資料來源欄位：</a:t>
            </a:r>
          </a:p>
          <a:p>
            <a:r>
              <a:t>- FarmTransData：交易日期（民國年）、市場名稱、作物名稱（含品種）、上價/中價/下價/平均價、交易量（公斤）</a:t>
            </a:r>
          </a:p>
          <a:p>
            <a:r>
              <a:t>- TownCropData：年度、期作、縣市、鄉鎮、作物代碼、種植面積（公頃）、收穫面積、每公頃收量、總收量</a:t>
            </a:r>
          </a:p>
          <a:p>
            <a:r>
              <a:t>- TAPData：交易日期、作物名稱、市場名稱、交易金額（元）、交易量（kg）、溯源代號</a:t>
            </a:r>
          </a:p>
          <a:p>
            <a:r>
              <a:t>- CostData：年度、作物名稱、9項成本項目（種苗費/肥料費/農藥費/人工費/機械費/水利費/其他材料費/土地費/資本利息）</a:t>
            </a:r>
          </a:p>
          <a:p>
            <a:endParaRPr/>
          </a:p>
          <a:p>
            <a:r>
              <a:t>目標四分類指標說明：</a:t>
            </a:r>
          </a:p>
          <a:p>
            <a:r>
              <a:t>- 除了 MAPE（回歸準確度），系統另以「價格是否跌破成本線」作為二元分類目標</a:t>
            </a:r>
          </a:p>
          <a:p>
            <a:r>
              <a:t>- Recall（風險捕捉率）= 實際跌破成本時，模型成功預警的比率</a:t>
            </a:r>
          </a:p>
          <a:p>
            <a:r>
              <a:t>- Precision（預警準確率）= 模型發出預警時，實際真的跌破成本的比率</a:t>
            </a:r>
          </a:p>
          <a:p>
            <a:r>
              <a:t>- F1 = Recall 與 Precision 的調和平均</a:t>
            </a:r>
          </a:p>
          <a:p>
            <a:r>
              <a:t>- 甘藍分類指標表現優異（XGBoost F1=96.77%），文心蘭因測試期間無正例，分類指標為 N/A</a:t>
            </a:r>
          </a:p>
          <a:p>
            <a:endParaRPr/>
          </a:p>
          <a:p>
            <a:r>
              <a:t>目標五 Word 月報內容：</a:t>
            </a:r>
          </a:p>
          <a:p>
            <a:r>
              <a:t>- 第一部分：模型訓練結果報告（系統概述、模型總覽、比較表、指標說明、特徵重要度、結論建議、農業專家審查、驗證報告）</a:t>
            </a:r>
          </a:p>
          <a:p>
            <a:r>
              <a:t>- 第二部分：資料表結構文件（所有 CSV 欄位定義、關聯性、重複欄位標註）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四組 API 來自農業部農糧署「農業資料開放平臺」。</a:t>
            </a:r>
          </a:p>
          <a:p>
            <a:r>
              <a:t>- FarmTransData：每日批發市場交易行情，為最核心的價格資料</a:t>
            </a:r>
          </a:p>
          <a:p>
            <a:r>
              <a:t>- TownCropData：年度農情調查，含各鄉鎮種植面積與產量</a:t>
            </a:r>
          </a:p>
          <a:p>
            <a:r>
              <a:t>- TAPData：產銷履歷追溯資料，文心蘭因花卉類非主要涵蓋對象而無資料</a:t>
            </a:r>
          </a:p>
          <a:p>
            <a:r>
              <a:t>- CostData：農業部生產成本調查（田間成本），不含運銷費用</a:t>
            </a:r>
          </a:p>
          <a:p>
            <a:endParaRPr/>
          </a:p>
          <a:p>
            <a:r>
              <a:t>作物代碼：甘藍在 TownCropData 使用代碼 LA1；文心蘭無專用代碼，需全量下載後以作物名稱篩選。</a:t>
            </a:r>
          </a:p>
          <a:p>
            <a:r>
              <a:t>CostData 中甘藍登錄名稱為「裡作甘藍」（裡作 = 冬季作）。</a:t>
            </a:r>
          </a:p>
          <a:p>
            <a:r>
              <a:t>資料撈取耗時：每次完整更新約需 26 小時（甘藍 13h + 文心蘭 13h），因 API 有速率限制。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69 欄特徵矩陣涵蓋價量、市場結構、成本、時間、技術指標等 11 類。</a:t>
            </a:r>
          </a:p>
          <a:p>
            <a:r>
              <a:t>文心蘭為 65 欄（少產銷履歷 4 欄）。</a:t>
            </a:r>
          </a:p>
          <a:p>
            <a:endParaRPr/>
          </a:p>
          <a:p>
            <a:r>
              <a:t>部分成本欄位有缺值：</a:t>
            </a:r>
          </a:p>
          <a:p>
            <a:r>
              <a:t>- 甘藍 cost_machine（機械費）：2017-2023 年度缺失</a:t>
            </a:r>
          </a:p>
          <a:p>
            <a:r>
              <a:t>- 文心蘭 cost_seed（種苗費）、cost_machine（機械費）：全年度缺失</a:t>
            </a:r>
          </a:p>
          <a:p>
            <a:r>
              <a:t>缺值以前後年度內插或該作物平均值填補。</a:t>
            </a:r>
          </a:p>
          <a:p>
            <a:endParaRPr/>
          </a:p>
          <a:p>
            <a:r>
              <a:t>85,180 筆原始資料經 6 步清洗（去重、統一日期格式、異常值處理、合併、對齊、特徵工程）後，</a:t>
            </a:r>
          </a:p>
          <a:p>
            <a:r>
              <a:t>產出甘藍 4,085 天 × 69 欄、文心蘭 4,001 天 × 65 欄的乾淨特徵矩陣。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 API 回傳欄位名稱不一致（如日期有民國年/西元年，價格單位有元/千元），</a:t>
            </a:r>
          </a:p>
          <a:p>
            <a:r>
              <a:t>需統一為標準化欄位名稱後才能合併為特徵矩陣。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模型驗證採用嚴謹的時間序列方法：</a:t>
            </a:r>
          </a:p>
          <a:p>
            <a:r>
              <a:t>1. 70/30 切割：前 70% 資料訓練、後 30% 測試，確保不用未來資料預測過去（防止資料洩漏）</a:t>
            </a:r>
          </a:p>
          <a:p>
            <a:r>
              <a:t>2. Walk-Forward：逐月向前滾動，每次只用過去資料訓練並預測下一期，驗證模型在不同時間段的穩定性</a:t>
            </a:r>
          </a:p>
          <a:p>
            <a:endParaRPr/>
          </a:p>
          <a:p>
            <a:r>
              <a:t>評估指標說明：</a:t>
            </a:r>
          </a:p>
          <a:p>
            <a:r>
              <a:t>- MAPE（平均絕對百分比誤差）：預測值與實際值的平均誤差百分比，越低越好</a:t>
            </a:r>
          </a:p>
          <a:p>
            <a:r>
              <a:t>- RMSE（均方根誤差）：對大誤差懲罰更重，單位與原始資料相同（元/公斤）</a:t>
            </a:r>
          </a:p>
          <a:p>
            <a:r>
              <a:t>- MAE（平均絕對誤差）：預測誤差的絕對值平均</a:t>
            </a:r>
          </a:p>
          <a:p>
            <a:r>
              <a:t>- R²（決定係數）：模型解釋變異的比例，1.0 為完美，0 為隨機，負值表示比平均值預測還差</a:t>
            </a:r>
          </a:p>
          <a:p>
            <a:endParaRPr/>
          </a:p>
          <a:p>
            <a:r>
              <a:t>分類指標以「價格跌破成本線」為正例（二元分類），用於評估風險預警能力。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三色燈號設計參考交通號誌，符合公務體系直覺：</a:t>
            </a:r>
          </a:p>
          <a:p>
            <a:r>
              <a:t>- 綠燈：正常，無需干預</a:t>
            </a:r>
          </a:p>
          <a:p>
            <a:r>
              <a:t>- 黃燈：注意，建議密切監控</a:t>
            </a:r>
          </a:p>
          <a:p>
            <a:r>
              <a:t>- 紅燈：警戒，建議啟動產銷調節機制</a:t>
            </a:r>
          </a:p>
          <a:p>
            <a:endParaRPr/>
          </a:p>
          <a:p>
            <a:r>
              <a:t>供給指數 &gt; 1.0 代表當年產量超過歷史平均，數值越高表示供過於求風險越大。</a:t>
            </a:r>
          </a:p>
          <a:p>
            <a:r>
              <a:t>整體燈號採「最嚴格」原則：只要任一指標亮紅燈，整體即為紅燈。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CostPredictor 五大功能均以農業部生產成本調查數據為基礎。</a:t>
            </a:r>
          </a:p>
          <a:p>
            <a:r>
              <a:t>注意：成本為「田間生產成本」，不含採後處理（分級、包裝、冷藏）及運銷費用。</a:t>
            </a:r>
          </a:p>
          <a:p>
            <a:endParaRPr/>
          </a:p>
          <a:p>
            <a:r>
              <a:t>損益平衡預警：比較近 30 日均價與每公斤生產成本，判斷是否有虧損風險。</a:t>
            </a:r>
          </a:p>
          <a:p>
            <a:r>
              <a:t>- 甘藍成本 5.64 元/公斤 vs 近 30 日均價 6.28 元/公斤 → 黃燈（利潤薄，價格下跌中）</a:t>
            </a:r>
          </a:p>
          <a:p>
            <a:r>
              <a:t>- 文心蘭成本 9.95 元/公斤 vs 近 30 日均價 159.01 元/公斤 → 綠燈</a:t>
            </a:r>
          </a:p>
          <a:p>
            <a:endParaRPr/>
          </a:p>
          <a:p>
            <a:r>
              <a:t>文心蘭 ROI 1,498.7% 看似異常，是因為僅以田間生產成本計算。</a:t>
            </a:r>
          </a:p>
          <a:p>
            <a:r>
              <a:t>花卉實際完全成本（含冷藏、分級包裝、運輸）遠高於 9.95 元/公斤，完全成本利潤率會顯著低於此數值。</a:t>
            </a:r>
          </a:p>
          <a:p>
            <a:endParaRPr/>
          </a:p>
          <a:p>
            <a:r>
              <a:t>成本敏感度：人工費佔甘藍總成本 41.4%，+20% 即造成利潤下降 16.1%，為最關鍵成本因子。</a:t>
            </a:r>
          </a:p>
          <a:p>
            <a:r>
              <a:t>CAGR = Compound Annual Growth Rate，複合年均成長率。</a:t>
            </a:r>
          </a:p>
          <a:p>
            <a:r>
              <a:t>ROI = Return on Investment，投資報酬率。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技術工具說明：</a:t>
            </a:r>
          </a:p>
          <a:p>
            <a:r>
              <a:t>- Python 3.13：主要程式語言</a:t>
            </a:r>
          </a:p>
          <a:p>
            <a:r>
              <a:t>- pandas / numpy：資料處理與數值計算</a:t>
            </a:r>
          </a:p>
          <a:p>
            <a:r>
              <a:t>- Prophet：Meta（Facebook）開源的時間序列預測模型</a:t>
            </a:r>
          </a:p>
          <a:p>
            <a:r>
              <a:t>- XGBoost（eXtreme Gradient Boosting）：極限梯度提升，高準確度的機器學習演算法</a:t>
            </a:r>
          </a:p>
          <a:p>
            <a:r>
              <a:t>- LightGBM（Light Gradient Boosting Machine）：微軟開發，訓練速度快、記憶體效率高</a:t>
            </a:r>
          </a:p>
          <a:p>
            <a:r>
              <a:t>- scikit-learn：機器學習工具箱，提供資料前處理、模型評估等基礎功能</a:t>
            </a:r>
          </a:p>
          <a:p>
            <a:r>
              <a:t>- SHAP（SHapley Additive exPlanations）：模型可解釋性工具，解釋每個特徵對預測的貢獻</a:t>
            </a:r>
          </a:p>
          <a:p>
            <a:r>
              <a:t>- Plotly.js：互動式圖表（價格走勢、預測曲線可縮放檢視）</a:t>
            </a:r>
          </a:p>
          <a:p>
            <a:r>
              <a:t>- python-docx：自動產生 Word 格式月報</a:t>
            </a:r>
          </a:p>
          <a:p>
            <a:endParaRPr/>
          </a:p>
          <a:p>
            <a:r>
              <a:t>資料撈取約需 26 小時（受 API 速率限制），系統支援斷點續傳（checkpoint/resume）。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實際訓練結果解讀（2026-03-12）：</a:t>
            </a:r>
          </a:p>
          <a:p>
            <a:r>
              <a:t>- Prophet MAPE 55.95%/44.47%：時間序列模型在此資料表現不佳，因價格波動大且非純粹季節性</a:t>
            </a:r>
          </a:p>
          <a:p>
            <a:r>
              <a:t>- XGBoost MAPE 1.73%/2.31%：表現最佳或次佳，因能利用 lag 特徵（前日價格）和滾動統計</a:t>
            </a:r>
          </a:p>
          <a:p>
            <a:r>
              <a:t>- LightGBM MAPE 1.72%/2.44%：與 XGBoost 相近</a:t>
            </a:r>
          </a:p>
          <a:p>
            <a:r>
              <a:t>- Ensemble MAPE 1.61%/2.26%：甘藍 Ensemble 表現最佳，四模型 MAPE 皆低於 2%</a:t>
            </a:r>
          </a:p>
          <a:p>
            <a:endParaRPr/>
          </a:p>
          <a:p>
            <a:r>
              <a:t>MAPE = Mean Absolute Percentage Error（平均絕對百分比誤差），越低越好。</a:t>
            </a:r>
          </a:p>
          <a:p>
            <a:r>
              <a:t>MAPE &lt; 15% 為本研究設定的達標門檻。</a:t>
            </a:r>
          </a:p>
          <a:p>
            <a:endParaRPr/>
          </a:p>
          <a:p>
            <a:r>
              <a:t>甘藍推薦模型：Ensemble（MAPE 1.61%）</a:t>
            </a:r>
          </a:p>
          <a:p>
            <a:r>
              <a:t>文心蘭推薦模型：Ensemble（MAPE 2.26%）</a:t>
            </a:r>
          </a:p>
          <a:p>
            <a:endParaRPr/>
          </a:p>
          <a:p>
            <a:r>
              <a:t>Top-3 重要特徵（甘藍 XGBoost）：</a:t>
            </a:r>
          </a:p>
          <a:p>
            <a:r>
              <a:t>1. mid_price（中價）= 0.46 → 當日中間價對今天預測最重要</a:t>
            </a:r>
          </a:p>
          <a:p>
            <a:r>
              <a:t>2. avg_price_lag_1（前日均價）= 0.27 → 前一天的價格</a:t>
            </a:r>
          </a:p>
          <a:p>
            <a:r>
              <a:t>3. avg_price_rolling_mean_7（7日均價）= 0.25 → 近一週的價格趨勢</a:t>
            </a:r>
          </a:p>
          <a:p>
            <a:endParaRPr/>
          </a:p>
          <a:p>
            <a:r>
              <a:t>文心蘭利潤率 1,498.7% 是以田間生產成本計算，實際完全成本利潤率會顯著低於此數值。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學術貢獻以「建立」而非「首創」措辭，因國內已有類似農業資料整合研究。</a:t>
            </a:r>
          </a:p>
          <a:p>
            <a:r>
              <a:t>唯「首次將農業部 9 項生產成本調查數據納入農糧預測特徵」為本研究獨創之處。</a:t>
            </a:r>
          </a:p>
          <a:p>
            <a:endParaRPr/>
          </a:p>
          <a:p>
            <a:r>
              <a:t>SHAP 可解釋性：將 AI 黑箱模型轉為可解釋的預測結果，讓農政人員理解「為什麼模型預測價格會下跌」。</a:t>
            </a:r>
          </a:p>
          <a:p>
            <a:r>
              <a:t>三色燈號：綠/黃/紅，類似交通號誌，是農政體系常用的視覺化方式。</a:t>
            </a:r>
          </a:p>
          <a:p>
            <a:endParaRPr/>
          </a:p>
          <a:p>
            <a:r>
              <a:t>系統擴充性：新增作物只需在 config.py 加入作物名稱和代碼對照，程式碼無需修改。</a:t>
            </a:r>
          </a:p>
          <a:p>
            <a:r>
              <a:t>Phase 1 已驗證蔬菜（甘藍）與花卉（文心蘭）兩種不同類型作物，證明架構泛用性。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3D6B4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7BAD6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農糧生產情勢預測系統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運用政府開放資料與 AI 建構農糧產銷智慧預測平臺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01168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標的作物：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甘藍（高麗菜）、文心蘭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報告人：鍾昀臻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3 月 12 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研究背景與問題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為什麼農糧價格預測至關重要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412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發現</a:t>
            </a:r>
            <a:endParaRPr lang="en-US" sz="1400" b="1" dirty="0">
              <a:solidFill>
                <a:srgbClr val="2F5233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15568"/>
            <a:ext cx="54864" cy="438912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430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菜價崩盤循環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高麗菜盛產季價格從 20 元暴跌至 3~5 元/公斤，2018 年導致超過 </a:t>
            </a: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公頃</a:t>
            </a: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耕鋤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438912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6550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災後暴漲失控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18105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颱風豪雨後蔬菜價格短期飆漲 </a:t>
            </a: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200~300%</a:t>
            </a: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，消費者負擔劇增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39696"/>
            <a:ext cx="54864" cy="438912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16712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現行預測仰賴人工經驗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2322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農業部農糧署農情預測為月度文字報告，缺乏量化模型與即時性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51760"/>
            <a:ext cx="54864" cy="438912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791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 API 資料豐富卻無人加值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8346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農業資料開放平臺擁有超過 </a:t>
            </a: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個</a:t>
            </a: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資料集，但缺乏整合應用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63824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63824"/>
            <a:ext cx="54864" cy="438912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912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事後救災→事前預防轉型需求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" y="33467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現行政策以災後補助為主，缺少預測→預警→調節的前瞻機制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841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資料使用者</a:t>
            </a:r>
            <a:r>
              <a:rPr lang="en-US" altLang="zh-TW" sz="14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zh-TW" altLang="en-US" sz="14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分享</a:t>
            </a:r>
            <a:r>
              <a:rPr lang="zh-TW" altLang="en-US" sz="1400" b="1" dirty="0" smtClean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者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1115568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1207008"/>
            <a:ext cx="256032" cy="256032"/>
          </a:xfrm>
          <a:prstGeom prst="ellipse">
            <a:avLst/>
          </a:prstGeom>
          <a:solidFill>
            <a:srgbClr val="7BAD6D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115214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農民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76672" y="1316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種植前獲得價格預測與成本預估，避免盲目搶種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937760" y="1627632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1719072"/>
            <a:ext cx="256032" cy="256032"/>
          </a:xfrm>
          <a:prstGeom prst="ellipse">
            <a:avLst/>
          </a:prstGeom>
          <a:solidFill>
            <a:srgbClr val="7BAD6D"/>
          </a:solidFill>
          <a:ln/>
        </p:spPr>
      </p:sp>
      <p:sp>
        <p:nvSpPr>
          <p:cNvPr id="35" name="Text 33"/>
          <p:cNvSpPr/>
          <p:nvPr/>
        </p:nvSpPr>
        <p:spPr>
          <a:xfrm>
            <a:off x="5376672" y="1664208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 / 通路商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76672" y="1828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提前掌握供貨量波動，調整進貨與定價策略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2139696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0" y="2231136"/>
            <a:ext cx="256032" cy="256032"/>
          </a:xfrm>
          <a:prstGeom prst="ellipse">
            <a:avLst/>
          </a:prstGeom>
          <a:solidFill>
            <a:srgbClr val="7BAD6D"/>
          </a:solidFill>
          <a:ln/>
        </p:spPr>
      </p:sp>
      <p:sp>
        <p:nvSpPr>
          <p:cNvPr id="39" name="Text 37"/>
          <p:cNvSpPr/>
          <p:nvPr/>
        </p:nvSpPr>
        <p:spPr>
          <a:xfrm>
            <a:off x="5376672" y="217627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政府單位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76672" y="2340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以量化指標觸發產銷調節，從被動轉主動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37760" y="2651760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29200" y="2743200"/>
            <a:ext cx="256032" cy="256032"/>
          </a:xfrm>
          <a:prstGeom prst="ellipse">
            <a:avLst/>
          </a:prstGeom>
          <a:solidFill>
            <a:srgbClr val="7BAD6D"/>
          </a:solidFill>
          <a:ln/>
        </p:spPr>
      </p:sp>
      <p:sp>
        <p:nvSpPr>
          <p:cNvPr id="43" name="Text 41"/>
          <p:cNvSpPr/>
          <p:nvPr/>
        </p:nvSpPr>
        <p:spPr>
          <a:xfrm>
            <a:off x="5376672" y="2688336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農產加工業者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76672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依預測低價期規劃原料採購與庫存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37760" y="3163824"/>
            <a:ext cx="374904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0" y="3255264"/>
            <a:ext cx="256032" cy="256032"/>
          </a:xfrm>
          <a:prstGeom prst="ellipse">
            <a:avLst/>
          </a:prstGeom>
          <a:solidFill>
            <a:srgbClr val="7BAD6D"/>
          </a:solidFill>
          <a:ln/>
        </p:spPr>
      </p:sp>
      <p:sp>
        <p:nvSpPr>
          <p:cNvPr id="47" name="Text 45"/>
          <p:cNvSpPr/>
          <p:nvPr/>
        </p:nvSpPr>
        <p:spPr>
          <a:xfrm>
            <a:off x="5376672" y="32004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農業保險業者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76672" y="3364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以歷史預測準確度輔助保單定價與風險評估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941064"/>
            <a:ext cx="8229600" cy="7315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A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核心問題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" y="416966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臺灣農糧產銷缺乏「數據驅動的前瞻預測機制」，導致供需失衡反覆發生。本研究以政府開放資料為基礎，建構 AI 預測系統，實現從事後救災到事前預防的決策轉型。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研究目的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整合政府開放資料，建構 AI 驅動的農糧產銷預測與決策支援平臺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30352" y="14630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609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多源資料整合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8288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</a:t>
            </a:r>
            <a:r>
              <a:rPr lang="en-US" sz="1200" b="1" dirty="0" err="1" smtClean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組政府開放資料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" y="2231944"/>
            <a:ext cx="1463040" cy="1078184"/>
          </a:xfrm>
          <a:prstGeom prst="rect">
            <a:avLst/>
          </a:prstGeom>
          <a:solidFill>
            <a:srgbClr val="F2F7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03504" y="25877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串接 4 </a:t>
            </a:r>
            <a:r>
              <a:rPr lang="en-US" sz="10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組政府開放資料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建立統一資料擷取流程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21408" y="137160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121408" y="1371600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194560" y="14630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94560" y="1609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長期時間序列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18288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76272" y="2231944"/>
            <a:ext cx="1463040" cy="1078184"/>
          </a:xfrm>
          <a:prstGeom prst="rect">
            <a:avLst/>
          </a:prstGeom>
          <a:solidFill>
            <a:srgbClr val="F2F7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231136" y="2369104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 2015~2026 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10 年農情與成本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12848" y="269748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甘藍 52,867 筆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文心蘭 19,375 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85616" y="137160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785616" y="1371600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858768" y="14630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58768" y="1609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集成模型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8768" y="18288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模型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0" y="2202048"/>
            <a:ext cx="1463040" cy="1108080"/>
          </a:xfrm>
          <a:prstGeom prst="rect">
            <a:avLst/>
          </a:prstGeom>
          <a:solidFill>
            <a:srgbClr val="F2F7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3895344" y="2331205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 + LightGBM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Ensemble（集成學習）+ SHAP（模型可解釋性）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77056" y="2766377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搭配 Walk-Forward（向前滾動驗證）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回測驗證穩定性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9824" y="137160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449824" y="1371600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522976" y="14630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22976" y="1609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預測精度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22976" y="18288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 smtClean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MAPE（平均預測誤差</a:t>
            </a:r>
            <a:r>
              <a:rPr lang="en-US" sz="1200" b="1" dirty="0" smtClean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%）&lt; </a:t>
            </a:r>
            <a:r>
              <a:rPr lang="en-US" sz="1200" b="1" dirty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04688" y="2231944"/>
            <a:ext cx="1463040" cy="1078184"/>
          </a:xfrm>
          <a:prstGeom prst="rect">
            <a:avLst/>
          </a:prstGeom>
          <a:solidFill>
            <a:srgbClr val="F2F7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7114032" y="1371600"/>
            <a:ext cx="157276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7114032" y="1371600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7187184" y="1463040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87184" y="160934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決策支援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87184" y="1828800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6卡片×2作物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68896" y="2231944"/>
            <a:ext cx="1463040" cy="1078184"/>
          </a:xfrm>
          <a:prstGeom prst="rect">
            <a:avLst/>
          </a:prstGeom>
          <a:solidFill>
            <a:srgbClr val="F2F7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278624" y="2536945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r>
              <a:rPr lang="en-US" sz="10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儀表板</a:t>
            </a:r>
            <a:endParaRPr lang="en-US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月度產量預測報告</a:t>
            </a:r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燈號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成本分析模組</a:t>
            </a:r>
            <a:endParaRPr lang="en-US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價格走勢預警</a:t>
            </a:r>
            <a:endParaRPr lang="en-US" altLang="zh-TW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產銷失衡燈號</a:t>
            </a:r>
            <a:endParaRPr lang="en-US" altLang="zh-TW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預測因子解釋</a:t>
            </a:r>
            <a:endParaRPr lang="en-US" sz="1000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57200" y="3493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資料規模總覽</a:t>
            </a:r>
            <a:endParaRPr lang="en-US" sz="1000" dirty="0"/>
          </a:p>
        </p:txBody>
      </p:sp>
      <p:graphicFrame>
        <p:nvGraphicFramePr>
          <p:cNvPr id="49" name="Chart 0"/>
          <p:cNvGraphicFramePr/>
          <p:nvPr>
            <p:extLst>
              <p:ext uri="{D42A27DB-BD31-4B8C-83A1-F6EECF244321}">
                <p14:modId xmlns:p14="http://schemas.microsoft.com/office/powerpoint/2010/main" val="853292564"/>
              </p:ext>
            </p:extLst>
          </p:nvPr>
        </p:nvGraphicFramePr>
        <p:xfrm>
          <a:off x="457200" y="3665936"/>
          <a:ext cx="8229600" cy="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Text 47"/>
          <p:cNvSpPr/>
          <p:nvPr/>
        </p:nvSpPr>
        <p:spPr>
          <a:xfrm>
            <a:off x="8046720" y="5050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22976" y="2244852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41264" y="269748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205472" y="269748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endParaRPr lang="en-US" sz="750" dirty="0"/>
          </a:p>
        </p:txBody>
      </p:sp>
      <p:sp>
        <p:nvSpPr>
          <p:cNvPr id="60" name="DataDesc"/>
          <p:cNvSpPr/>
          <p:nvPr/>
        </p:nvSpPr>
        <p:spPr>
          <a:xfrm>
            <a:off x="457200" y="4300000"/>
            <a:ext cx="8229600" cy="740000"/>
          </a:xfrm>
          <a:prstGeom prst="roundRect">
            <a:avLst>
              <a:gd name="adj" fmla="val 5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68580" tIns="45720" rIns="68580" bIns="45720" numCol="4" spcCol="91440" rtlCol="0" anchor="t"/>
          <a:lstStyle/>
          <a:p>
            <a:r>
              <a:rPr lang="zh-TW" altLang="zh-TW" sz="800" b="1" dirty="0">
                <a:solidFill>
                  <a:srgbClr val="E8C97A"/>
                </a:solidFill>
                <a:ea typeface="Calibri"/>
              </a:rPr>
              <a:t>生產成本 CostData</a:t>
            </a:r>
          </a:p>
          <a:p>
            <a:r>
              <a:rPr lang="zh-TW" altLang="zh-TW" sz="700" dirty="0">
                <a:solidFill>
                  <a:srgbClr val="FFFFFF"/>
                </a:solidFill>
                <a:ea typeface="Calibri"/>
              </a:rPr>
              <a:t>年度各縣市 50+ 成本細項，含種苗費、肥料費、農藥費、人工費、機械費、能源費、地租、資本利息等</a:t>
            </a:r>
          </a:p>
          <a:p>
            <a:r>
              <a:rPr lang="zh-TW" altLang="zh-TW" sz="700" dirty="0">
                <a:solidFill>
                  <a:srgbClr val="AADDAA"/>
                </a:solidFill>
                <a:ea typeface="Calibri"/>
              </a:rPr>
              <a:t>5 欄 × 50+ 成本項：年度、作物、縣市、成本項目、金額 → 彙整為 cost_per_kg（每公斤成本）</a:t>
            </a:r>
          </a:p>
          <a:p>
            <a:pPr marL="0" indent="0">
              <a:buNone/>
            </a:pPr>
            <a:endParaRPr lang="en-US" altLang="zh-TW" sz="800" b="1" dirty="0" smtClean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zh-TW" sz="800" b="1" dirty="0" smtClean="0">
                <a:solidFill>
                  <a:srgbClr val="E8C97A"/>
                </a:solidFill>
                <a:latin typeface="Calibri"/>
                <a:ea typeface="Calibri"/>
              </a:rPr>
              <a:t>交易</a:t>
            </a:r>
            <a:r>
              <a:rPr lang="zh-TW" sz="800" b="1" dirty="0">
                <a:solidFill>
                  <a:srgbClr val="E8C97A"/>
                </a:solidFill>
                <a:latin typeface="Calibri"/>
                <a:ea typeface="Calibri"/>
              </a:rPr>
              <a:t>行情 FarmTransData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FFFFFF"/>
                </a:solidFill>
                <a:latin typeface="Calibri"/>
                <a:ea typeface="Calibri"/>
              </a:rPr>
              <a:t>每日各市場的上價/中價/下價/平均價與交易量（公斤）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AADDAA"/>
                </a:solidFill>
                <a:latin typeface="Calibri"/>
                <a:ea typeface="Calibri"/>
              </a:rPr>
              <a:t>11 欄：交易日期、種類代碼、作物代號/名稱、市場代號/名稱、上中下均價、交易量</a:t>
            </a:r>
          </a:p>
          <a:p>
            <a:pPr marL="0" indent="0">
              <a:buNone/>
            </a:pPr>
            <a:endParaRPr lang="en-US" altLang="zh-TW" sz="800" b="1" dirty="0" smtClean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zh-TW" sz="800" b="1" dirty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zh-TW" sz="800" b="1" dirty="0" smtClean="0">
                <a:solidFill>
                  <a:srgbClr val="E8C97A"/>
                </a:solidFill>
                <a:latin typeface="Calibri"/>
                <a:ea typeface="Calibri"/>
              </a:rPr>
              <a:t>農</a:t>
            </a:r>
            <a:r>
              <a:rPr lang="zh-TW" sz="800" b="1" dirty="0">
                <a:solidFill>
                  <a:srgbClr val="E8C97A"/>
                </a:solidFill>
                <a:latin typeface="Calibri"/>
                <a:ea typeface="Calibri"/>
              </a:rPr>
              <a:t>情調查 TownCropData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FFFFFF"/>
                </a:solidFill>
                <a:latin typeface="Calibri"/>
                <a:ea typeface="Calibri"/>
              </a:rPr>
              <a:t>各鄉鎮每期作種植面積、收穫面積與每公頃產量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AADDAA"/>
                </a:solidFill>
                <a:latin typeface="Calibri"/>
                <a:ea typeface="Calibri"/>
              </a:rPr>
              <a:t>10 欄：年度、期作、縣市、鄉鎮、作物代碼/名稱、種植/收穫面積、單位產量、總收量</a:t>
            </a:r>
          </a:p>
          <a:p>
            <a:pPr marL="0" indent="0">
              <a:buNone/>
            </a:pPr>
            <a:endParaRPr lang="en-US" altLang="zh-TW" sz="800" b="1" dirty="0" smtClean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zh-TW" sz="800" b="1" dirty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endParaRPr lang="en-US" altLang="zh-TW" sz="800" b="1" dirty="0" smtClean="0">
              <a:solidFill>
                <a:srgbClr val="E8C97A"/>
              </a:solidFill>
              <a:latin typeface="Calibri"/>
              <a:ea typeface="Calibri"/>
            </a:endParaRPr>
          </a:p>
          <a:p>
            <a:pPr marL="0" indent="0">
              <a:buNone/>
            </a:pPr>
            <a:r>
              <a:rPr lang="zh-TW" sz="800" b="1" dirty="0" smtClean="0">
                <a:solidFill>
                  <a:srgbClr val="E8C97A"/>
                </a:solidFill>
                <a:latin typeface="Calibri"/>
                <a:ea typeface="Calibri"/>
              </a:rPr>
              <a:t>產</a:t>
            </a:r>
            <a:r>
              <a:rPr lang="zh-TW" sz="800" b="1" dirty="0">
                <a:solidFill>
                  <a:srgbClr val="E8C97A"/>
                </a:solidFill>
                <a:latin typeface="Calibri"/>
                <a:ea typeface="Calibri"/>
              </a:rPr>
              <a:t>銷履歷 TAPData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FFFFFF"/>
                </a:solidFill>
                <a:latin typeface="Calibri"/>
                <a:ea typeface="Calibri"/>
              </a:rPr>
              <a:t>溯源認證農產品每日交易金額與數量（僅甘藍有此資料）</a:t>
            </a:r>
          </a:p>
          <a:p>
            <a:pPr marL="0" indent="0">
              <a:buNone/>
            </a:pPr>
            <a:r>
              <a:rPr lang="zh-TW" sz="700" dirty="0">
                <a:solidFill>
                  <a:srgbClr val="AADDAA"/>
                </a:solidFill>
                <a:latin typeface="Calibri"/>
                <a:ea typeface="Calibri"/>
              </a:rPr>
              <a:t>8 欄：交易日期、作物代號/名稱、市場代號/名稱、交易金額、交易量、溯源</a:t>
            </a:r>
            <a:r>
              <a:rPr lang="zh-TW" sz="700" dirty="0" smtClean="0">
                <a:solidFill>
                  <a:srgbClr val="AADDAA"/>
                </a:solidFill>
                <a:latin typeface="Calibri"/>
                <a:ea typeface="Calibri"/>
              </a:rPr>
              <a:t>代號</a:t>
            </a:r>
            <a:endParaRPr lang="zh-TW" sz="700" dirty="0">
              <a:solidFill>
                <a:srgbClr val="AADDAA"/>
              </a:solidFill>
              <a:latin typeface="Calibri"/>
              <a:ea typeface="Calibri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5522976" y="2745517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絕對百分比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方根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絕對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決定係數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準確率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精確率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召回率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F1-F1 </a:t>
            </a:r>
            <a:r>
              <a:rPr lang="zh-TW" altLang="en-US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分數</a:t>
            </a:r>
            <a:endParaRPr lang="en-US" altLang="zh-TW" sz="1000" dirty="0" smtClean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TW" sz="1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</a:t>
            </a:r>
            <a:r>
              <a:rPr lang="zh-TW" alt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曲線下面積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資料來源與資料架構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40176" y="4682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四組政府開放資料服務介面（API）</a:t>
            </a:r>
            <a:r>
              <a:rPr lang="en-US" sz="1000" dirty="0" smtClean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</a:t>
            </a:r>
          </a:p>
          <a:p>
            <a:pPr marL="0" indent="0">
              <a:buNone/>
            </a:pPr>
            <a:r>
              <a:rPr lang="en-US" sz="1000" dirty="0" err="1" smtClean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作物代碼</a:t>
            </a:r>
            <a:r>
              <a:rPr lang="en-US" sz="10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：甘藍（FarmTransData</a:t>
            </a: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：「甘藍」, TownCropData：LA1, CostData：「裡作甘藍」）/ 文心蘭（「文心蘭」, 無代碼需全量篩選, 「文心蘭」）｜估計撈取耗時：甘藍 ~13h，文心蘭 ~13h，合計 ~26h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700000"/>
            <a:ext cx="3700000" cy="7393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700000"/>
            <a:ext cx="54864" cy="731971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9" name="Text 7"/>
          <p:cNvSpPr/>
          <p:nvPr/>
        </p:nvSpPr>
        <p:spPr>
          <a:xfrm>
            <a:off x="584786" y="738654"/>
            <a:ext cx="2126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FarmTransData 交易行情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5720" y="746385"/>
            <a:ext cx="411480" cy="146304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1" name="Text 9"/>
          <p:cNvSpPr/>
          <p:nvPr/>
        </p:nvSpPr>
        <p:spPr>
          <a:xfrm>
            <a:off x="3745720" y="746385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84786" y="916463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甘藍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52,867 筆</a:t>
            </a: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文心蘭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19,375 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4785" y="929051"/>
            <a:ext cx="34448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交易日期(民國年)、市場名稱、作物名稱(含品種)、上/中/下/平均價、交易量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4782" y="1235016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data.moa.gov.tw/.../FarmTransData.aspx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197" y="1563800"/>
            <a:ext cx="3700000" cy="826983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570623"/>
            <a:ext cx="54864" cy="820160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786" y="1663163"/>
            <a:ext cx="2126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TownCropData 農情調查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5717" y="1611076"/>
            <a:ext cx="411480" cy="146304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9" name="Text 17"/>
          <p:cNvSpPr/>
          <p:nvPr/>
        </p:nvSpPr>
        <p:spPr>
          <a:xfrm>
            <a:off x="3745720" y="1611772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4786" y="1840972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甘藍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9,627 筆</a:t>
            </a: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文心蘭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697 筆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4783" y="2017302"/>
            <a:ext cx="3444827" cy="206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年度、期作、縣市、鄉鎮、作物代碼、種植面積、收穫面積、每公頃收量、收量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4786" y="2226191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data.moa.gov.tw/.../TownCropData.aspx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40176" y="2565585"/>
            <a:ext cx="3700000" cy="930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377" y="2557007"/>
            <a:ext cx="54864" cy="930000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25" name="Text 23"/>
          <p:cNvSpPr/>
          <p:nvPr/>
        </p:nvSpPr>
        <p:spPr>
          <a:xfrm>
            <a:off x="584782" y="2632449"/>
            <a:ext cx="2126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TAPData 產銷履歷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28696" y="2613134"/>
            <a:ext cx="411480" cy="146304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27" name="Text 25"/>
          <p:cNvSpPr/>
          <p:nvPr/>
        </p:nvSpPr>
        <p:spPr>
          <a:xfrm>
            <a:off x="3745717" y="2609790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84786" y="2869007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甘藍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21,236 筆</a:t>
            </a: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文心蘭 花卉類非產銷履歷制度主要涵蓋對象，故無追溯資料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4786" y="3076541"/>
            <a:ext cx="3444827" cy="20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交易日期、作物名稱、市場名稱、交易金額(元)、交易量(kg)、溯源代號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7762" y="3296214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data.moa.gov.tw/.../TAPData.aspx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" y="3685000"/>
            <a:ext cx="3700000" cy="73653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685000"/>
            <a:ext cx="45719" cy="736530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33" name="Text 31"/>
          <p:cNvSpPr/>
          <p:nvPr/>
        </p:nvSpPr>
        <p:spPr>
          <a:xfrm>
            <a:off x="584786" y="3723654"/>
            <a:ext cx="2126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CostData 生產成本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5720" y="3731385"/>
            <a:ext cx="411480" cy="146304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35" name="Text 33"/>
          <p:cNvSpPr/>
          <p:nvPr/>
        </p:nvSpPr>
        <p:spPr>
          <a:xfrm>
            <a:off x="3745720" y="3731385"/>
            <a:ext cx="411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84786" y="3901463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甘藍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1,450 筆</a:t>
            </a: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文心蘭 </a:t>
            </a:r>
            <a:r>
              <a:rPr lang="en-US" sz="105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1,308 筆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4786" y="4071541"/>
            <a:ext cx="3444827" cy="15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年度、作物名稱、成本項目、金額、縣市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84786" y="4247342"/>
            <a:ext cx="34448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TransService.aspx (UnitId: lowkVAjACbtM)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pic>
        <p:nvPicPr>
          <p:cNvPr id="40" name="Picture 39" descr="06_data_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738" y="1199920"/>
            <a:ext cx="4710382" cy="2727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資料處理與特徵工程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" y="748422"/>
            <a:ext cx="4732713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從原始 API 到 69 欄特徵矩陣</a:t>
            </a:r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777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 維特徵矩陣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180548"/>
              </p:ext>
            </p:extLst>
          </p:nvPr>
        </p:nvGraphicFramePr>
        <p:xfrm>
          <a:off x="4980709" y="955544"/>
          <a:ext cx="3980412" cy="2974297"/>
        </p:xfrm>
        <a:graphic>
          <a:graphicData uri="http://schemas.openxmlformats.org/drawingml/2006/table">
            <a:tbl>
              <a:tblPr/>
              <a:tblGrid>
                <a:gridCol w="711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2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特徵類別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欄數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代表欄位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基礎價量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avg_price, total_volume, high/mid/low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市場結構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market_count, variety_count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產銷履歷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tap_volume, tap_amount, tap_avg_price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農情調查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planted_area, harvest_area, production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生產成本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cost_total, seed, fertilizer, labor...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特徵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avg_price_lag_{1~30} + volume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滾動統計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rolling_mean/std × price/vol × 7/14/30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時間特徵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day_of_week, month + sin/cos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變動率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price_pct_change_{1d,7d,30d}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6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預警指標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supply_index, area_growth, price_drop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980708" y="4534469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 69 欄（甘藍）/ 65 欄（文心蘭，無產銷履歷 4 欄）　</a:t>
            </a:r>
            <a:endParaRPr lang="en-US" sz="900" dirty="0" smtClean="0">
              <a:solidFill>
                <a:srgbClr val="66666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 smtClean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</a:t>
            </a: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部分成本項目因調查年度差異可能有缺值（甘藍 cost_machine 2017-2023 缺失；文心蘭 cost_seed、cost_machine 全年度缺失）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37160" y="4305869"/>
            <a:ext cx="4737246" cy="64008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4333301"/>
            <a:ext cx="1495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A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資料處理成果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4534469"/>
            <a:ext cx="45955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組 API → </a:t>
            </a:r>
            <a:r>
              <a:rPr lang="en-US" sz="9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85,180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筆原始資料 → 6 步清洗 → 甘藍 </a:t>
            </a:r>
            <a:r>
              <a:rPr lang="en-US" sz="9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4,085 天 × 69 欄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文心蘭 </a:t>
            </a:r>
            <a:r>
              <a:rPr lang="en-US" sz="9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4,001 天 × 65 欄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pic>
        <p:nvPicPr>
          <p:cNvPr id="14" name="Picture 13" descr="01_data_processing_flow.png"/>
          <p:cNvPicPr>
            <a:picLocks noChangeAspect="1"/>
          </p:cNvPicPr>
          <p:nvPr/>
        </p:nvPicPr>
        <p:blipFill rotWithShape="1">
          <a:blip r:embed="rId3"/>
          <a:srcRect r="13134"/>
          <a:stretch/>
        </p:blipFill>
        <p:spPr>
          <a:xfrm>
            <a:off x="137160" y="954162"/>
            <a:ext cx="4732713" cy="31514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欄位名稱統一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pic>
        <p:nvPicPr>
          <p:cNvPr id="7" name="Picture 6" descr="02_field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54" y="676656"/>
            <a:ext cx="7516091" cy="43499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研究方法與 AI 模型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pic>
        <p:nvPicPr>
          <p:cNvPr id="7" name="Picture 6" descr="05_mode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23" y="658368"/>
            <a:ext cx="6400800" cy="340000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457200" y="4150000"/>
            <a:ext cx="8229600" cy="880000"/>
          </a:xfrm>
          <a:prstGeom prst="rect">
            <a:avLst/>
          </a:prstGeom>
          <a:solidFill>
            <a:srgbClr val="2F5233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0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</a:rPr>
              <a:t>模型驗證方法</a:t>
            </a:r>
          </a:p>
          <a:p>
            <a:pPr marL="0" indent="0">
              <a:buNone/>
            </a:pPr>
            <a:r>
              <a:rPr lang="zh-TW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① 70/30 時間序列切割（訓練在前、測試在後，不重疊）　</a:t>
            </a:r>
            <a:endParaRPr lang="en-US" altLang="zh-TW" sz="10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zh-TW" sz="1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② </a:t>
            </a:r>
            <a:r>
              <a:rPr lang="zh-TW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Walk-Forward 滑動視窗回測（逐月前推，驗證穩定性）　</a:t>
            </a:r>
            <a:endParaRPr lang="en-US" altLang="zh-TW" sz="10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zh-TW" sz="1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③ </a:t>
            </a:r>
            <a:r>
              <a:rPr lang="zh-TW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回歸指標：MAPE（平均絕對百分比誤差）、RMSE（均方根誤差）、MAE（平均絕對誤差）、R²（決定係數）　</a:t>
            </a:r>
            <a:endParaRPr lang="en-US" altLang="zh-TW" sz="1000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</a:endParaRPr>
          </a:p>
          <a:p>
            <a:pPr marL="0" indent="0">
              <a:buNone/>
            </a:pPr>
            <a:r>
              <a:rPr lang="zh-TW" sz="1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④ </a:t>
            </a:r>
            <a:r>
              <a:rPr lang="zh-TW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分類指標：Accuracy、Precision、Recall、F1、AUC（以跌破成本線為正例）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TitleBg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itle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三色燈號預警觸發流程</a:t>
            </a:r>
          </a:p>
        </p:txBody>
      </p:sp>
      <p:sp>
        <p:nvSpPr>
          <p:cNvPr id="5" name="BottomBar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6" name="PageNum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</a:p>
        </p:txBody>
      </p:sp>
      <p:sp>
        <p:nvSpPr>
          <p:cNvPr id="100" name="Src1"/>
          <p:cNvSpPr/>
          <p:nvPr/>
        </p:nvSpPr>
        <p:spPr>
          <a:xfrm>
            <a:off x="286860" y="1243126"/>
            <a:ext cx="135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</a:rPr>
              <a:t>TownCropData</a:t>
            </a:r>
          </a:p>
          <a:p>
            <a:pPr algn="ctr">
              <a:buNone/>
            </a:pPr>
            <a:r>
              <a:rPr lang="zh-TW" sz="1000" dirty="0">
                <a:solidFill>
                  <a:srgbClr val="CCCCCC"/>
                </a:solidFill>
                <a:latin typeface="Calibri"/>
                <a:ea typeface="Calibri"/>
              </a:rPr>
              <a:t>年度產量</a:t>
            </a:r>
          </a:p>
        </p:txBody>
      </p:sp>
      <p:sp>
        <p:nvSpPr>
          <p:cNvPr id="101" name="Arrow1"/>
          <p:cNvSpPr/>
          <p:nvPr/>
        </p:nvSpPr>
        <p:spPr>
          <a:xfrm>
            <a:off x="1686860" y="142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102" name="Calc1"/>
          <p:cNvSpPr/>
          <p:nvPr/>
        </p:nvSpPr>
        <p:spPr>
          <a:xfrm>
            <a:off x="1986860" y="1243126"/>
            <a:ext cx="160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1100" b="1" dirty="0">
                <a:solidFill>
                  <a:srgbClr val="FFFFFF"/>
                </a:solidFill>
                <a:latin typeface="Calibri"/>
                <a:ea typeface="Calibri"/>
              </a:rPr>
              <a:t>供給指數</a:t>
            </a:r>
          </a:p>
          <a:p>
            <a:pPr algn="ctr">
              <a:buNone/>
            </a:pPr>
            <a:r>
              <a:rPr lang="zh-TW" sz="900" dirty="0">
                <a:solidFill>
                  <a:srgbClr val="CCCCCC"/>
                </a:solidFill>
                <a:latin typeface="Calibri"/>
                <a:ea typeface="Calibri"/>
              </a:rPr>
              <a:t>當年產量 / 5年均量</a:t>
            </a:r>
          </a:p>
        </p:txBody>
      </p:sp>
      <p:sp>
        <p:nvSpPr>
          <p:cNvPr id="103" name="Arrow1b"/>
          <p:cNvSpPr/>
          <p:nvPr/>
        </p:nvSpPr>
        <p:spPr>
          <a:xfrm>
            <a:off x="3636860" y="142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104" name="G1"/>
          <p:cNvSpPr/>
          <p:nvPr/>
        </p:nvSpPr>
        <p:spPr>
          <a:xfrm>
            <a:off x="3986860" y="1293126"/>
            <a:ext cx="300000" cy="300000"/>
          </a:xfrm>
          <a:prstGeom prst="ellipse">
            <a:avLst/>
          </a:prstGeom>
          <a:solidFill>
            <a:srgbClr val="6DBE5E"/>
          </a:solidFill>
          <a:ln w="0">
            <a:noFill/>
          </a:ln>
        </p:spPr>
      </p:sp>
      <p:sp>
        <p:nvSpPr>
          <p:cNvPr id="105" name="Y1"/>
          <p:cNvSpPr/>
          <p:nvPr/>
        </p:nvSpPr>
        <p:spPr>
          <a:xfrm>
            <a:off x="4486860" y="1293126"/>
            <a:ext cx="300000" cy="300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</p:sp>
      <p:sp>
        <p:nvSpPr>
          <p:cNvPr id="106" name="R1"/>
          <p:cNvSpPr/>
          <p:nvPr/>
        </p:nvSpPr>
        <p:spPr>
          <a:xfrm>
            <a:off x="4986860" y="1293126"/>
            <a:ext cx="300000" cy="300000"/>
          </a:xfrm>
          <a:prstGeom prst="ellipse">
            <a:avLst/>
          </a:prstGeom>
          <a:solidFill>
            <a:srgbClr val="E04040"/>
          </a:solidFill>
          <a:ln w="0">
            <a:noFill/>
          </a:ln>
        </p:spPr>
      </p:sp>
      <p:sp>
        <p:nvSpPr>
          <p:cNvPr id="107" name="L1G"/>
          <p:cNvSpPr/>
          <p:nvPr/>
        </p:nvSpPr>
        <p:spPr>
          <a:xfrm>
            <a:off x="3886860" y="161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≤1.1 倍</a:t>
            </a:r>
          </a:p>
        </p:txBody>
      </p:sp>
      <p:sp>
        <p:nvSpPr>
          <p:cNvPr id="108" name="L1Y"/>
          <p:cNvSpPr/>
          <p:nvPr/>
        </p:nvSpPr>
        <p:spPr>
          <a:xfrm>
            <a:off x="4286860" y="1613126"/>
            <a:ext cx="7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1.1~1.2 倍</a:t>
            </a:r>
          </a:p>
        </p:txBody>
      </p:sp>
      <p:sp>
        <p:nvSpPr>
          <p:cNvPr id="109" name="L1R"/>
          <p:cNvSpPr/>
          <p:nvPr/>
        </p:nvSpPr>
        <p:spPr>
          <a:xfrm>
            <a:off x="4886860" y="161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&gt;1.2 倍</a:t>
            </a:r>
          </a:p>
        </p:txBody>
      </p:sp>
      <p:sp>
        <p:nvSpPr>
          <p:cNvPr id="200" name="Src2"/>
          <p:cNvSpPr/>
          <p:nvPr/>
        </p:nvSpPr>
        <p:spPr>
          <a:xfrm>
            <a:off x="286860" y="2063126"/>
            <a:ext cx="135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</a:rPr>
              <a:t>FarmTransData</a:t>
            </a:r>
          </a:p>
          <a:p>
            <a:pPr algn="ctr">
              <a:buNone/>
            </a:pPr>
            <a:r>
              <a:rPr lang="zh-TW" sz="1000" dirty="0">
                <a:solidFill>
                  <a:srgbClr val="CCCCCC"/>
                </a:solidFill>
                <a:latin typeface="Calibri"/>
                <a:ea typeface="Calibri"/>
              </a:rPr>
              <a:t>每日均價</a:t>
            </a:r>
          </a:p>
        </p:txBody>
      </p:sp>
      <p:sp>
        <p:nvSpPr>
          <p:cNvPr id="201" name="Arrow2"/>
          <p:cNvSpPr/>
          <p:nvPr/>
        </p:nvSpPr>
        <p:spPr>
          <a:xfrm>
            <a:off x="1686860" y="224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202" name="Calc2"/>
          <p:cNvSpPr/>
          <p:nvPr/>
        </p:nvSpPr>
        <p:spPr>
          <a:xfrm>
            <a:off x="1986860" y="2063126"/>
            <a:ext cx="160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1100" b="1" dirty="0">
                <a:solidFill>
                  <a:srgbClr val="FFFFFF"/>
                </a:solidFill>
                <a:latin typeface="Calibri"/>
                <a:ea typeface="Calibri"/>
              </a:rPr>
              <a:t>價格跌幅</a:t>
            </a:r>
          </a:p>
          <a:p>
            <a:pPr algn="ctr">
              <a:buNone/>
            </a:pPr>
            <a:r>
              <a:rPr lang="zh-TW" sz="900" dirty="0">
                <a:solidFill>
                  <a:srgbClr val="CCCCCC"/>
                </a:solidFill>
                <a:latin typeface="Calibri"/>
                <a:ea typeface="Calibri"/>
              </a:rPr>
              <a:t>(30天前 - 當前) / 30天前</a:t>
            </a:r>
          </a:p>
        </p:txBody>
      </p:sp>
      <p:sp>
        <p:nvSpPr>
          <p:cNvPr id="203" name="Arrow2b"/>
          <p:cNvSpPr/>
          <p:nvPr/>
        </p:nvSpPr>
        <p:spPr>
          <a:xfrm>
            <a:off x="3636860" y="224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204" name="G2"/>
          <p:cNvSpPr/>
          <p:nvPr/>
        </p:nvSpPr>
        <p:spPr>
          <a:xfrm>
            <a:off x="3986860" y="2113126"/>
            <a:ext cx="300000" cy="300000"/>
          </a:xfrm>
          <a:prstGeom prst="ellipse">
            <a:avLst/>
          </a:prstGeom>
          <a:solidFill>
            <a:srgbClr val="6DBE5E"/>
          </a:solidFill>
          <a:ln w="0">
            <a:noFill/>
          </a:ln>
        </p:spPr>
      </p:sp>
      <p:sp>
        <p:nvSpPr>
          <p:cNvPr id="205" name="Y2"/>
          <p:cNvSpPr/>
          <p:nvPr/>
        </p:nvSpPr>
        <p:spPr>
          <a:xfrm>
            <a:off x="4486860" y="2113126"/>
            <a:ext cx="300000" cy="300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</p:sp>
      <p:sp>
        <p:nvSpPr>
          <p:cNvPr id="206" name="R2"/>
          <p:cNvSpPr/>
          <p:nvPr/>
        </p:nvSpPr>
        <p:spPr>
          <a:xfrm>
            <a:off x="4986860" y="2113126"/>
            <a:ext cx="300000" cy="300000"/>
          </a:xfrm>
          <a:prstGeom prst="ellipse">
            <a:avLst/>
          </a:prstGeom>
          <a:solidFill>
            <a:srgbClr val="E04040"/>
          </a:solidFill>
          <a:ln w="0">
            <a:noFill/>
          </a:ln>
        </p:spPr>
      </p:sp>
      <p:sp>
        <p:nvSpPr>
          <p:cNvPr id="207" name="L2G"/>
          <p:cNvSpPr/>
          <p:nvPr/>
        </p:nvSpPr>
        <p:spPr>
          <a:xfrm>
            <a:off x="3886860" y="243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≤10%</a:t>
            </a:r>
          </a:p>
        </p:txBody>
      </p:sp>
      <p:sp>
        <p:nvSpPr>
          <p:cNvPr id="208" name="L2Y"/>
          <p:cNvSpPr/>
          <p:nvPr/>
        </p:nvSpPr>
        <p:spPr>
          <a:xfrm>
            <a:off x="4286860" y="2433126"/>
            <a:ext cx="7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10~20%</a:t>
            </a:r>
          </a:p>
        </p:txBody>
      </p:sp>
      <p:sp>
        <p:nvSpPr>
          <p:cNvPr id="209" name="L2R"/>
          <p:cNvSpPr/>
          <p:nvPr/>
        </p:nvSpPr>
        <p:spPr>
          <a:xfrm>
            <a:off x="4886860" y="243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&gt;20%</a:t>
            </a:r>
          </a:p>
        </p:txBody>
      </p:sp>
      <p:sp>
        <p:nvSpPr>
          <p:cNvPr id="300" name="Src3"/>
          <p:cNvSpPr/>
          <p:nvPr/>
        </p:nvSpPr>
        <p:spPr>
          <a:xfrm>
            <a:off x="286860" y="2883126"/>
            <a:ext cx="135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/>
                <a:ea typeface="Calibri"/>
              </a:rPr>
              <a:t>TownCropData</a:t>
            </a:r>
          </a:p>
          <a:p>
            <a:pPr algn="ctr">
              <a:buNone/>
            </a:pPr>
            <a:r>
              <a:rPr lang="zh-TW" sz="1000" dirty="0">
                <a:solidFill>
                  <a:srgbClr val="CCCCCC"/>
                </a:solidFill>
                <a:latin typeface="Calibri"/>
                <a:ea typeface="Calibri"/>
              </a:rPr>
              <a:t>種植面積</a:t>
            </a:r>
          </a:p>
        </p:txBody>
      </p:sp>
      <p:sp>
        <p:nvSpPr>
          <p:cNvPr id="301" name="Arrow3"/>
          <p:cNvSpPr/>
          <p:nvPr/>
        </p:nvSpPr>
        <p:spPr>
          <a:xfrm>
            <a:off x="1686860" y="306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302" name="Calc3"/>
          <p:cNvSpPr/>
          <p:nvPr/>
        </p:nvSpPr>
        <p:spPr>
          <a:xfrm>
            <a:off x="1986860" y="2883126"/>
            <a:ext cx="1600000" cy="500000"/>
          </a:xfrm>
          <a:prstGeom prst="roundRect">
            <a:avLst>
              <a:gd name="adj" fmla="val 8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1100" b="1" dirty="0">
                <a:solidFill>
                  <a:srgbClr val="FFFFFF"/>
                </a:solidFill>
                <a:latin typeface="Calibri"/>
                <a:ea typeface="Calibri"/>
              </a:rPr>
              <a:t>面積成長</a:t>
            </a:r>
          </a:p>
          <a:p>
            <a:pPr algn="ctr">
              <a:buNone/>
            </a:pPr>
            <a:r>
              <a:rPr lang="zh-TW" sz="900" dirty="0">
                <a:solidFill>
                  <a:srgbClr val="CCCCCC"/>
                </a:solidFill>
                <a:latin typeface="Calibri"/>
                <a:ea typeface="Calibri"/>
              </a:rPr>
              <a:t>(今年 - 去年) / 去年</a:t>
            </a:r>
          </a:p>
        </p:txBody>
      </p:sp>
      <p:sp>
        <p:nvSpPr>
          <p:cNvPr id="303" name="Arrow3b"/>
          <p:cNvSpPr/>
          <p:nvPr/>
        </p:nvSpPr>
        <p:spPr>
          <a:xfrm>
            <a:off x="3636860" y="3063126"/>
            <a:ext cx="25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33"/>
          </a:solidFill>
          <a:ln w="0">
            <a:noFill/>
          </a:ln>
        </p:spPr>
      </p:sp>
      <p:sp>
        <p:nvSpPr>
          <p:cNvPr id="304" name="G3"/>
          <p:cNvSpPr/>
          <p:nvPr/>
        </p:nvSpPr>
        <p:spPr>
          <a:xfrm>
            <a:off x="3986860" y="2933126"/>
            <a:ext cx="300000" cy="300000"/>
          </a:xfrm>
          <a:prstGeom prst="ellipse">
            <a:avLst/>
          </a:prstGeom>
          <a:solidFill>
            <a:srgbClr val="6DBE5E"/>
          </a:solidFill>
          <a:ln w="0">
            <a:noFill/>
          </a:ln>
        </p:spPr>
      </p:sp>
      <p:sp>
        <p:nvSpPr>
          <p:cNvPr id="305" name="Y3"/>
          <p:cNvSpPr/>
          <p:nvPr/>
        </p:nvSpPr>
        <p:spPr>
          <a:xfrm>
            <a:off x="4486860" y="2933126"/>
            <a:ext cx="300000" cy="300000"/>
          </a:xfrm>
          <a:prstGeom prst="ellipse">
            <a:avLst/>
          </a:prstGeom>
          <a:solidFill>
            <a:srgbClr val="F5A623"/>
          </a:solidFill>
          <a:ln w="0">
            <a:noFill/>
          </a:ln>
        </p:spPr>
      </p:sp>
      <p:sp>
        <p:nvSpPr>
          <p:cNvPr id="306" name="R3"/>
          <p:cNvSpPr/>
          <p:nvPr/>
        </p:nvSpPr>
        <p:spPr>
          <a:xfrm>
            <a:off x="4986860" y="2933126"/>
            <a:ext cx="300000" cy="300000"/>
          </a:xfrm>
          <a:prstGeom prst="ellipse">
            <a:avLst/>
          </a:prstGeom>
          <a:solidFill>
            <a:srgbClr val="E04040"/>
          </a:solidFill>
          <a:ln w="0">
            <a:noFill/>
          </a:ln>
        </p:spPr>
      </p:sp>
      <p:sp>
        <p:nvSpPr>
          <p:cNvPr id="307" name="L3G"/>
          <p:cNvSpPr/>
          <p:nvPr/>
        </p:nvSpPr>
        <p:spPr>
          <a:xfrm>
            <a:off x="3886860" y="325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≤10%</a:t>
            </a:r>
          </a:p>
        </p:txBody>
      </p:sp>
      <p:sp>
        <p:nvSpPr>
          <p:cNvPr id="308" name="L3Y"/>
          <p:cNvSpPr/>
          <p:nvPr/>
        </p:nvSpPr>
        <p:spPr>
          <a:xfrm>
            <a:off x="4286860" y="3253126"/>
            <a:ext cx="7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10~20%</a:t>
            </a:r>
          </a:p>
        </p:txBody>
      </p:sp>
      <p:sp>
        <p:nvSpPr>
          <p:cNvPr id="309" name="L3R"/>
          <p:cNvSpPr/>
          <p:nvPr/>
        </p:nvSpPr>
        <p:spPr>
          <a:xfrm>
            <a:off x="4886860" y="3253126"/>
            <a:ext cx="500000" cy="18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900" dirty="0">
                <a:solidFill>
                  <a:srgbClr val="555555"/>
                </a:solidFill>
                <a:latin typeface="Calibri"/>
                <a:ea typeface="Calibri"/>
              </a:rPr>
              <a:t>&gt;20%</a:t>
            </a:r>
          </a:p>
        </p:txBody>
      </p:sp>
      <p:sp>
        <p:nvSpPr>
          <p:cNvPr id="400" name="ConnArrow"/>
          <p:cNvSpPr/>
          <p:nvPr/>
        </p:nvSpPr>
        <p:spPr>
          <a:xfrm>
            <a:off x="5436860" y="2163126"/>
            <a:ext cx="500000" cy="1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63A"/>
          </a:solidFill>
          <a:ln w="0">
            <a:noFill/>
          </a:ln>
        </p:spPr>
      </p:sp>
      <p:sp>
        <p:nvSpPr>
          <p:cNvPr id="401" name="JudgeBox"/>
          <p:cNvSpPr/>
          <p:nvPr/>
        </p:nvSpPr>
        <p:spPr>
          <a:xfrm>
            <a:off x="6036860" y="1363126"/>
            <a:ext cx="2900000" cy="1900000"/>
          </a:xfrm>
          <a:prstGeom prst="roundRect">
            <a:avLst>
              <a:gd name="adj" fmla="val 6000"/>
            </a:avLst>
          </a:prstGeom>
          <a:solidFill>
            <a:srgbClr val="2F5233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zh-TW" b="1" dirty="0">
                <a:solidFill>
                  <a:srgbClr val="FFFFFF"/>
                </a:solidFill>
                <a:latin typeface="Calibri"/>
                <a:ea typeface="Calibri"/>
              </a:rPr>
              <a:t>整體燈號判斷</a:t>
            </a:r>
          </a:p>
          <a:p>
            <a:pPr algn="ctr">
              <a:buNone/>
            </a:pPr>
            <a:endParaRPr lang="zh-TW" sz="800" dirty="0"/>
          </a:p>
          <a:p>
            <a:pPr algn="ctr">
              <a:buNone/>
            </a:pPr>
            <a:r>
              <a:rPr lang="zh-TW" sz="1050" dirty="0">
                <a:solidFill>
                  <a:srgbClr val="CCCCCC"/>
                </a:solidFill>
                <a:latin typeface="Calibri"/>
                <a:ea typeface="Calibri"/>
              </a:rPr>
              <a:t>任一指標達紅燈</a:t>
            </a:r>
          </a:p>
          <a:p>
            <a:pPr algn="ctr">
              <a:buNone/>
            </a:pPr>
            <a:endParaRPr lang="zh-TW" sz="600" dirty="0"/>
          </a:p>
          <a:p>
            <a:pPr algn="ctr">
              <a:buNone/>
            </a:pPr>
            <a:r>
              <a:rPr lang="zh-TW" sz="1600" b="1" dirty="0">
                <a:solidFill>
                  <a:srgbClr val="E04040"/>
                </a:solidFill>
                <a:latin typeface="Calibri"/>
                <a:ea typeface="Calibri"/>
              </a:rPr>
              <a:t>→ 整體紅燈</a:t>
            </a:r>
          </a:p>
          <a:p>
            <a:pPr algn="ctr">
              <a:buNone/>
            </a:pPr>
            <a:endParaRPr lang="zh-TW" sz="600" dirty="0"/>
          </a:p>
          <a:p>
            <a:pPr algn="ctr">
              <a:buNone/>
            </a:pPr>
            <a:r>
              <a:rPr lang="zh-TW" sz="1000" dirty="0">
                <a:solidFill>
                  <a:srgbClr val="AAAAAA"/>
                </a:solidFill>
                <a:latin typeface="Calibri"/>
                <a:ea typeface="Calibri"/>
              </a:rPr>
              <a:t>否則取最高嚴重度</a:t>
            </a:r>
          </a:p>
        </p:txBody>
      </p:sp>
      <p:sp>
        <p:nvSpPr>
          <p:cNvPr id="500" name="Footnote"/>
          <p:cNvSpPr/>
          <p:nvPr/>
        </p:nvSpPr>
        <p:spPr>
          <a:xfrm>
            <a:off x="261120" y="4048144"/>
            <a:ext cx="8700000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zh-TW" sz="1000" dirty="0">
                <a:solidFill>
                  <a:srgbClr val="888888"/>
                </a:solidFill>
                <a:latin typeface="Calibri"/>
                <a:ea typeface="Calibri"/>
              </a:rPr>
              <a:t>※ 供給指數單位為「倍」，1.1 倍 = 當年產量為近 5 年平均的 110%（超產 10% 以內為正常）</a:t>
            </a:r>
          </a:p>
        </p:txBody>
      </p:sp>
      <p:sp>
        <p:nvSpPr>
          <p:cNvPr id="510" name="LegGreen"/>
          <p:cNvSpPr/>
          <p:nvPr/>
        </p:nvSpPr>
        <p:spPr>
          <a:xfrm>
            <a:off x="200000" y="4388620"/>
            <a:ext cx="2700000" cy="3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6DBE5E"/>
            </a:solidFill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900" b="1" dirty="0">
                <a:solidFill>
                  <a:srgbClr val="4A8C3F"/>
                </a:solidFill>
                <a:latin typeface="Calibri"/>
                <a:ea typeface="Calibri"/>
              </a:rPr>
              <a:t>綠燈：正常監控</a:t>
            </a:r>
          </a:p>
        </p:txBody>
      </p:sp>
      <p:sp>
        <p:nvSpPr>
          <p:cNvPr id="511" name="LegYellow"/>
          <p:cNvSpPr/>
          <p:nvPr/>
        </p:nvSpPr>
        <p:spPr>
          <a:xfrm>
            <a:off x="3150000" y="4388620"/>
            <a:ext cx="2700000" cy="3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5A623"/>
            </a:solidFill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900" b="1" dirty="0">
                <a:solidFill>
                  <a:srgbClr val="C48520"/>
                </a:solidFill>
                <a:latin typeface="Calibri"/>
                <a:ea typeface="Calibri"/>
              </a:rPr>
              <a:t>黃燈：提前調配庫存</a:t>
            </a:r>
          </a:p>
        </p:txBody>
      </p:sp>
      <p:sp>
        <p:nvSpPr>
          <p:cNvPr id="512" name="LegRed"/>
          <p:cNvSpPr/>
          <p:nvPr/>
        </p:nvSpPr>
        <p:spPr>
          <a:xfrm>
            <a:off x="6100000" y="4388620"/>
            <a:ext cx="2800000" cy="350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E04040"/>
            </a:solidFill>
          </a:ln>
        </p:spPr>
        <p:txBody>
          <a:bodyPr wrap="square" lIns="45720" tIns="36576" rIns="45720" bIns="36576" rtlCol="0" anchor="ctr"/>
          <a:lstStyle/>
          <a:p>
            <a:pPr algn="ctr">
              <a:buNone/>
            </a:pPr>
            <a:r>
              <a:rPr lang="zh-TW" sz="900" b="1" dirty="0">
                <a:solidFill>
                  <a:srgbClr val="C03030"/>
                </a:solidFill>
                <a:latin typeface="Calibri"/>
                <a:ea typeface="Calibri"/>
              </a:rPr>
              <a:t>紅燈：啟動耕鋤 / 外銷 / 加工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決策支援系統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成本分析與種植決策工具 — CostPredictor 5 大功能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157276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804672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99447" y="9482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1195465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損益平衡預警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3471" y="1357005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比較近 30 日均價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最新 cost_per_kg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三色燈號判定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804672"/>
            <a:ext cx="157276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148840" y="804672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191087" y="9482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85416" y="1195465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利潤率預測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5111" y="1357005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線性回歸外推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 3 年成本/售價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利潤空間趨勢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804672"/>
            <a:ext cx="157276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840480" y="804672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882727" y="9482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77056" y="1195465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成本結構趨勢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16751" y="1357005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大成本項目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複合年均成長率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最快成長項目標記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804672"/>
            <a:ext cx="157276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532120" y="804672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574367" y="9482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68696" y="1195465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種植</a:t>
            </a: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200" b="1" dirty="0" smtClean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</a:t>
            </a: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投資報酬率）模擬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08391" y="1357005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輸入計畫面積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預估產量×均價=營收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扣除成本=利潤+ROI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804672"/>
            <a:ext cx="1572768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223760" y="804672"/>
            <a:ext cx="1572768" cy="45720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266007" y="948212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0336" y="1195465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成本敏感度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00031" y="1357005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各項目 ±10%/±20%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對總成本/利潤影響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找出最關鍵成本因子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423160"/>
            <a:ext cx="4023360" cy="235937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6928" y="2468879"/>
            <a:ext cx="3657600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損益平衡預警範例（2026-03-09）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580347"/>
              </p:ext>
            </p:extLst>
          </p:nvPr>
        </p:nvGraphicFramePr>
        <p:xfrm>
          <a:off x="548640" y="2697480"/>
          <a:ext cx="3840480" cy="2026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甘藍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文心蘭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預警燈號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黃燈（注意）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A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綠燈（正常）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最新成本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 元/公斤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 元/公斤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近 30 日均價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 元/公斤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159.01 元/公斤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利潤率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A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+1,498.7%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價格趨勢斜率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-0.0223 元/天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-1.80 元/天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觸及損益平衡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 50 天後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約 66 天後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663440" y="2423160"/>
            <a:ext cx="4297680" cy="2359378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4773168" y="2468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成本敏感度分析（甘藍，各項目 +20%）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0060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人工費 +20%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943600" y="2761488"/>
            <a:ext cx="2377440" cy="164592"/>
          </a:xfrm>
          <a:prstGeom prst="rect">
            <a:avLst/>
          </a:prstGeom>
          <a:solidFill>
            <a:srgbClr val="E875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841248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 -16.1%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772400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影響最大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800600" y="3044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農藥費 +20%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5943600" y="3063240"/>
            <a:ext cx="1645920" cy="164592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7680960" y="3044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 -11.0%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800600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肥料費 +20%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43600" y="3364992"/>
            <a:ext cx="731520" cy="164592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6766560" y="3346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 -4.6%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00600" y="3648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種苗費 +20%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943600" y="3666744"/>
            <a:ext cx="640080" cy="164592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6675120" y="3648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 -4.2%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800600" y="3950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機械費 +20%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43600" y="3968496"/>
            <a:ext cx="365760" cy="164592"/>
          </a:xfrm>
          <a:prstGeom prst="rect">
            <a:avLst/>
          </a:prstGeom>
          <a:solidFill>
            <a:srgbClr val="7BAD6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6400800" y="3950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利潤 -2.5%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800600" y="422887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人工費佔總成本 41.4%，為影響利潤的首要因子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800600" y="4480775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農藥費 CAGR 11.26%（2015-2024），為成長最快的成本項目｜※ 成本資料為農業部生產成本調查之田間生產成本，不含運銷及採後處理費用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8" y="761717"/>
            <a:ext cx="6291993" cy="3959139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6467724" y="1422672"/>
            <a:ext cx="2528837" cy="2229577"/>
          </a:xfrm>
          <a:prstGeom prst="rect">
            <a:avLst/>
          </a:prstGeom>
          <a:solidFill>
            <a:srgbClr val="2F5233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zh-TW" sz="10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</a:rPr>
              <a:t>使用技術工具</a:t>
            </a:r>
          </a:p>
          <a:p>
            <a:pPr marL="0" indent="0">
              <a:buNone/>
            </a:pPr>
            <a:endParaRPr lang="zh-TW" sz="800" dirty="0"/>
          </a:p>
          <a:p>
            <a:pPr marL="0" indent="0">
              <a:buNone/>
            </a:pPr>
            <a:r>
              <a:rPr lang="zh-TW" sz="850" b="1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</a:rPr>
              <a:t>語言與資料處理</a:t>
            </a:r>
          </a:p>
          <a:p>
            <a:pPr marL="0" indent="0">
              <a:buNone/>
            </a:pPr>
            <a:r>
              <a:rPr lang="zh-TW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Python 3.13　pandas　numpy</a:t>
            </a:r>
          </a:p>
          <a:p>
            <a:pPr marL="0" indent="0">
              <a:buNone/>
            </a:pPr>
            <a:endParaRPr lang="zh-TW" sz="800" dirty="0"/>
          </a:p>
          <a:p>
            <a:pPr marL="0" indent="0">
              <a:buNone/>
            </a:pPr>
            <a:r>
              <a:rPr lang="zh-TW" sz="850" b="1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</a:rPr>
              <a:t>AI 模型</a:t>
            </a:r>
          </a:p>
          <a:p>
            <a:pPr marL="0" indent="0">
              <a:buNone/>
            </a:pPr>
            <a:r>
              <a:rPr lang="zh-TW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Prophet（Meta）　XGBoost　LightGBM　scikit-learn</a:t>
            </a:r>
          </a:p>
          <a:p>
            <a:pPr marL="0" indent="0">
              <a:buNone/>
            </a:pPr>
            <a:endParaRPr lang="zh-TW" sz="800" dirty="0"/>
          </a:p>
          <a:p>
            <a:pPr marL="0" indent="0">
              <a:buNone/>
            </a:pPr>
            <a:r>
              <a:rPr lang="zh-TW" sz="850" b="1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</a:rPr>
              <a:t>模型解釋 &amp; 視覺化</a:t>
            </a:r>
          </a:p>
          <a:p>
            <a:pPr marL="0" indent="0">
              <a:buNone/>
            </a:pPr>
            <a:r>
              <a:rPr lang="zh-TW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SHAP　Plotly.js（CDN）　matplotlib</a:t>
            </a:r>
          </a:p>
          <a:p>
            <a:pPr marL="0" indent="0">
              <a:buNone/>
            </a:pPr>
            <a:endParaRPr lang="zh-TW" sz="800" dirty="0"/>
          </a:p>
          <a:p>
            <a:pPr marL="0" indent="0">
              <a:buNone/>
            </a:pPr>
            <a:r>
              <a:rPr lang="zh-TW" sz="850" b="1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</a:rPr>
              <a:t>報告生成</a:t>
            </a:r>
          </a:p>
          <a:p>
            <a:pPr marL="0" indent="0">
              <a:buNone/>
            </a:pPr>
            <a:r>
              <a:rPr lang="zh-TW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python-docx（Word 月報）</a:t>
            </a:r>
          </a:p>
          <a:p>
            <a:pPr marL="0" indent="0">
              <a:buNone/>
            </a:pPr>
            <a:endParaRPr lang="zh-TW" sz="800" dirty="0"/>
          </a:p>
          <a:p>
            <a:pPr marL="0" indent="0">
              <a:buNone/>
            </a:pPr>
            <a:r>
              <a:rPr lang="zh-TW" sz="850" b="1" dirty="0">
                <a:solidFill>
                  <a:srgbClr val="7EC8A0"/>
                </a:solidFill>
                <a:latin typeface="Calibri" pitchFamily="34" charset="0"/>
                <a:ea typeface="Calibri" pitchFamily="34" charset="-122"/>
              </a:rPr>
              <a:t>資料撈取估計耗時</a:t>
            </a:r>
          </a:p>
          <a:p>
            <a:pPr marL="0" indent="0">
              <a:buNone/>
            </a:pPr>
            <a:r>
              <a:rPr lang="zh-TW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甘藍 ~13小時　文心蘭 ~13小時　合計 ~26小時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預期成果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" y="692371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具體交付物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479987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grpSp>
        <p:nvGrpSpPr>
          <p:cNvPr id="40" name="群組 39"/>
          <p:cNvGrpSpPr/>
          <p:nvPr/>
        </p:nvGrpSpPr>
        <p:grpSpPr>
          <a:xfrm>
            <a:off x="153589" y="897306"/>
            <a:ext cx="8912437" cy="1946570"/>
            <a:chOff x="731520" y="1728904"/>
            <a:chExt cx="4376262" cy="1414796"/>
          </a:xfrm>
        </p:grpSpPr>
        <p:sp>
          <p:nvSpPr>
            <p:cNvPr id="9" name="Text 7"/>
            <p:cNvSpPr/>
            <p:nvPr/>
          </p:nvSpPr>
          <p:spPr>
            <a:xfrm>
              <a:off x="731520" y="1728904"/>
              <a:ext cx="437626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自動化資料擷取流程 — 每日抓取 4 組政府開放資料服務介面（API），清洗合併為 69 欄，歷史涵蓋 11 年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1995735"/>
              <a:ext cx="437626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 四模型預測 — Prophet + XGBoost + LightGBM + Ensemble，搭配 SHAP + Walk-Forward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2262566"/>
              <a:ext cx="437626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三色燈號預警 — 供給/價格/面積三維度，紅/黃/綠即時觸發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2529397"/>
              <a:ext cx="437626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成本分析模組 — 損益平衡預警、利潤率預測、ROI 模擬、敏感度分析等 5 功能</a:t>
              </a:r>
              <a:endParaRPr lang="en-US" sz="1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2796228"/>
              <a:ext cx="4376262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互動式儀表板（已完成）— 靜態 HTML + Plotly.js，77.8 KB，6 張卡片 × 2 作物</a:t>
              </a:r>
              <a:endParaRPr lang="en-US" sz="10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375761" y="2935830"/>
            <a:ext cx="3931920" cy="17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實際訓練結果（2026-03-12）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92727"/>
              </p:ext>
            </p:extLst>
          </p:nvPr>
        </p:nvGraphicFramePr>
        <p:xfrm>
          <a:off x="375761" y="3215274"/>
          <a:ext cx="3737610" cy="16273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7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甘藍 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文心蘭 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達標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7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b="0" dirty="0" smtClean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時間序列）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55.95%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44.47%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2F5233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XGBoost</a:t>
                      </a:r>
                      <a:endParaRPr lang="en-US" sz="1000" b="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7BAD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7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2.44%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7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2.26%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56402" y="2937376"/>
            <a:ext cx="4207669" cy="193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XGBoost、LightGBM 及 Ensemble MAPE 均遠低於 15% 目標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54880" y="6000000"/>
            <a:ext cx="3931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3：mid_price(0.46)、avg_price_lag_1(0.27)、avg_price_rolling_mean_7(0.25)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556401" y="3202634"/>
            <a:ext cx="4509626" cy="262169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1" y="3251163"/>
            <a:ext cx="3840480" cy="17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雙作物驗證 — 證明架構泛用性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40951"/>
              </p:ext>
            </p:extLst>
          </p:nvPr>
        </p:nvGraphicFramePr>
        <p:xfrm>
          <a:off x="4556403" y="3461051"/>
          <a:ext cx="4509624" cy="1096058"/>
        </p:xfrm>
        <a:graphic>
          <a:graphicData uri="http://schemas.openxmlformats.org/drawingml/2006/table">
            <a:tbl>
              <a:tblPr/>
              <a:tblGrid>
                <a:gridCol w="563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37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35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序列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甘藍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蔬菜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4,085天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綠燈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黃燈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文心蘭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花卉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4,001天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黃燈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綠燈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4754880" y="6000000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同一套程式碼，僅需 config.py 新增作物對照即可擴充　※ 文心蘭利潤率以田間生產成本計算，不含採後處理及運銷費用，實際完全成本利潤率會顯著低於此數值</a:t>
            </a:r>
            <a:endParaRPr lang="en-US" sz="650" dirty="0"/>
          </a:p>
        </p:txBody>
      </p:sp>
      <p:sp>
        <p:nvSpPr>
          <p:cNvPr id="33" name="Text 29"/>
          <p:cNvSpPr/>
          <p:nvPr/>
        </p:nvSpPr>
        <p:spPr>
          <a:xfrm>
            <a:off x="4754880" y="60000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儀表板數據摘要</a:t>
            </a:r>
            <a:endParaRPr lang="en-US" sz="9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6000000"/>
          <a:ext cx="3931920" cy="9525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甘藍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文心蘭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最新年度產量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408,767 公噸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4,703 公噸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產銷燈號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綠燈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黃燈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/ 利潤率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 / 23.3%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1,498.7% / 1,492.5%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2F5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成本/公斤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 元/公斤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1" dirty="0">
                          <a:solidFill>
                            <a:srgbClr val="E875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9.95 元/公斤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Shape 30"/>
          <p:cNvSpPr/>
          <p:nvPr/>
        </p:nvSpPr>
        <p:spPr>
          <a:xfrm>
            <a:off x="457200" y="6000000"/>
            <a:ext cx="4114800" cy="0"/>
          </a:xfrm>
          <a:prstGeom prst="line">
            <a:avLst/>
          </a:prstGeom>
          <a:noFill/>
          <a:ln w="19050">
            <a:solidFill>
              <a:srgbClr val="D94040"/>
            </a:solidFill>
            <a:prstDash val="dash"/>
          </a:ln>
        </p:spPr>
      </p:sp>
      <p:sp>
        <p:nvSpPr>
          <p:cNvPr id="37" name="Text 31"/>
          <p:cNvSpPr/>
          <p:nvPr/>
        </p:nvSpPr>
        <p:spPr>
          <a:xfrm>
            <a:off x="457200" y="600000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MAPE（平均絕對百分比誤差） 目標 15%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8046720" y="6000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7315200" cy="4572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1280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研究貢獻與政策價值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學術創新與實務應用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18288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貢獻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069848"/>
            <a:ext cx="219456" cy="219456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698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0515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建立多源農業資料整合框架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2527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4 類政府開放資料整合為 69 欄時間序列，建立可複製的整合方法論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618488"/>
            <a:ext cx="219456" cy="219456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18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600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建立農糧領域 AI 預測基準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18013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年歷史資料、嚴謹 70/30 時序切割，提供後續研究可靠的對照基線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219456" cy="21945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671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148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首次將農業部 9 項生產成本調查數據納入農糧預測特徵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3500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首次將農業部 9 項生產成本調查數據納入農糧預測特徵，實現價格+成本雙軸決策支援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15768"/>
            <a:ext cx="219456" cy="219456"/>
          </a:xfrm>
          <a:prstGeom prst="rect">
            <a:avLst/>
          </a:prstGeom>
          <a:solidFill>
            <a:srgbClr val="3D6B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157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6974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多作物泛用性驗證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8986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同一架構套用蔬菜（甘藍）與花卉（文心蘭），僅需 config.py 即可擴充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219456" cy="219456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644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246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可解釋性 AI 應用於農政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4472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將黑箱模型轉為可解釋預測，三色燈號符合公務體系直覺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804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價值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069848"/>
            <a:ext cx="219456" cy="219456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0698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38928" y="1051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從被動救災轉為主動預防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12527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三色燈號提前 2~4 週發出預警，政策調節從事後補助轉為事前調節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618488"/>
            <a:ext cx="219456" cy="219456"/>
          </a:xfrm>
          <a:prstGeom prst="rect">
            <a:avLst/>
          </a:prstGeom>
          <a:solidFill>
            <a:srgbClr val="3D6B4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6184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強化農業部農糧署決策工具箱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38928" y="1801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燈號 + 損益平衡預警 + 利潤率預測，提供可操作的量化決策依據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167128"/>
            <a:ext cx="219456" cy="21945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1671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38928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保障農民種植收益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23500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模擬讓農民播種前評估預期收益，敏感度分析揭示關鍵成本因子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715768"/>
            <a:ext cx="219456" cy="219456"/>
          </a:xfrm>
          <a:prstGeom prst="rect">
            <a:avLst/>
          </a:prstGeom>
          <a:solidFill>
            <a:srgbClr val="7BAD6D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7157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38928" y="2697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促進政府開放資料加值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38928" y="2898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實作示範 4 組政府開放資料服務介面（API）整合為高價值決策工具，提供可複製的範本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264408"/>
            <a:ext cx="219456" cy="219456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2644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38928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52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跨作物可擴充預測平臺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38928" y="34472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模組化四層架構，Phase 1 驗證後可擴展至水果、稻米、菇類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3931920"/>
            <a:ext cx="9144000" cy="914400"/>
          </a:xfrm>
          <a:prstGeom prst="rect">
            <a:avLst/>
          </a:prstGeom>
          <a:solidFill>
            <a:srgbClr val="2F5233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以數據驅動農糧決策，以 AI 守護農民收益。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組 API、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年歷史資料、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維特徵、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模型集成、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色燈號預警、</a:t>
            </a:r>
            <a:r>
              <a:rPr lang="en-US" sz="14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功能成本分析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A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打造臺灣農糧產銷智慧預測平臺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04672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2502</Words>
  <Application>Microsoft Office PowerPoint</Application>
  <PresentationFormat>如螢幕大小 (16:9)</PresentationFormat>
  <Paragraphs>542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Arial Black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農糧生產情勢預測系統</dc:title>
  <dc:subject>PptxGenJS Presentation</dc:subject>
  <dc:creator>鍾昀臻</dc:creator>
  <cp:lastModifiedBy>yunzhenz</cp:lastModifiedBy>
  <cp:revision>21</cp:revision>
  <dcterms:created xsi:type="dcterms:W3CDTF">2026-03-09T14:07:22Z</dcterms:created>
  <dcterms:modified xsi:type="dcterms:W3CDTF">2026-03-12T12:45:12Z</dcterms:modified>
</cp:coreProperties>
</file>